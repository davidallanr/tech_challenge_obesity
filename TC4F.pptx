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96" r:id="rId2"/>
  </p:sldMasterIdLst>
  <p:notesMasterIdLst>
    <p:notesMasterId r:id="rId18"/>
  </p:notesMasterIdLst>
  <p:sldIdLst>
    <p:sldId id="256" r:id="rId3"/>
    <p:sldId id="260" r:id="rId4"/>
    <p:sldId id="265" r:id="rId5"/>
    <p:sldId id="264" r:id="rId6"/>
    <p:sldId id="257" r:id="rId7"/>
    <p:sldId id="263" r:id="rId8"/>
    <p:sldId id="261" r:id="rId9"/>
    <p:sldId id="258" r:id="rId10"/>
    <p:sldId id="268" r:id="rId11"/>
    <p:sldId id="267" r:id="rId12"/>
    <p:sldId id="262" r:id="rId13"/>
    <p:sldId id="259" r:id="rId14"/>
    <p:sldId id="269" r:id="rId15"/>
    <p:sldId id="266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0" autoAdjust="0"/>
    <p:restoredTop sz="86410" autoAdjust="0"/>
  </p:normalViewPr>
  <p:slideViewPr>
    <p:cSldViewPr snapToGrid="0" snapToObjects="1">
      <p:cViewPr varScale="1">
        <p:scale>
          <a:sx n="71" d="100"/>
          <a:sy n="71" d="100"/>
        </p:scale>
        <p:origin x="51" y="1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D6EA88-4C43-4D44-9142-0903C65869BA}" type="datetimeFigureOut">
              <a:rPr lang="pt-BR" smtClean="0"/>
              <a:t>07/01/2026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05D756-5E30-40AD-89BA-CBEDBC198A2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3232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05D756-5E30-40AD-89BA-CBEDBC198A2D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9647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SLIDE SOBRE DADOS DEMOGRAFICOS E HISTORICO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96801-3B0C-DE3C-A632-A54A3126F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>
            <a:extLst>
              <a:ext uri="{FF2B5EF4-FFF2-40B4-BE49-F238E27FC236}">
                <a16:creationId xmlns:a16="http://schemas.microsoft.com/office/drawing/2014/main" id="{7F1AF71C-4E50-289B-846D-98AF0400D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SLIDE SOBRE DADOS DEMOGRAFICOS E HISTORICO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233548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SLIDE SOBRE HABITOS ALIMENTARES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1AEBB-AA9A-14AA-9832-BAA85A8A9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>
            <a:extLst>
              <a:ext uri="{FF2B5EF4-FFF2-40B4-BE49-F238E27FC236}">
                <a16:creationId xmlns:a16="http://schemas.microsoft.com/office/drawing/2014/main" id="{2A590382-1ABC-7B4A-A493-F25D2551E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SLIDE SOBRE HABITOS ALIMENTARES</a:t>
            </a:r>
            <a:endParaRPr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567137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BE55D-8AD0-DEDB-02FB-98D1D1F45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>
            <a:extLst>
              <a:ext uri="{FF2B5EF4-FFF2-40B4-BE49-F238E27FC236}">
                <a16:creationId xmlns:a16="http://schemas.microsoft.com/office/drawing/2014/main" id="{26A0ACD8-F24E-A15B-1999-DD21851BD6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SLIDE SOBRE HABITOS ALIMENTARES</a:t>
            </a:r>
            <a:endParaRPr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063816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SLIDE SOBRE HABITOS DE VIDA</a:t>
            </a: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74025-9D17-09E1-2F14-BCC893A69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>
            <a:extLst>
              <a:ext uri="{FF2B5EF4-FFF2-40B4-BE49-F238E27FC236}">
                <a16:creationId xmlns:a16="http://schemas.microsoft.com/office/drawing/2014/main" id="{F6D639BC-027C-3C88-CAEC-7243FFB695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SLIDE SOBRE HABITOS DE VIDA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34259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E2C24-0BE6-5C3E-8413-4AB35445D2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9DC277-2360-1225-1229-183FC67BC5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04EFB-AF31-9C53-6611-1578AC64D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10641-DC9B-3518-DCA5-35716F9EF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5270C9-CD9C-DF4F-FADB-A2DF880C4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7631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8E58E-EC5F-AB14-6F4B-956EDF32C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94906-547A-F728-4912-1ADD46DF3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98590-A835-F2D5-E3CA-85922D36F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C2949-77B0-7030-685E-D8D78F1EB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F4113-5F20-02F3-A4DB-2A4583874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7876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35D16-49C1-9E33-25DF-B07AEAC89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BFB1F-3841-190B-DA7C-2488EBC599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6639A-AE2B-D64F-5B68-279CB5AC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C63EE4-22DC-0C4A-9E4D-2E0B1BA11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8D5E2-5DB1-FC5A-48FE-3C91E7613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7687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2E06E-1A7D-2246-4BF3-D39494711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691CB-4121-B7CF-D5BC-0544743156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469FF4-B505-C11B-06B5-210D9EA6E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E70BE7-F14E-E752-3769-EE18CCE62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290FB-9926-3315-BE6E-D056802D1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67F2DA-EE7C-68A5-0035-2FBCB2B5C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7937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62CC1-B22F-E8F6-B46D-3C562F181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2A6EB-DFCD-8A0A-B28D-940C8D34D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477A90-C713-95C8-CC04-1742369010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B647F7-3C34-95F5-88ED-1875A7CCF8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043FE8-03E7-3443-4067-B40150349D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118793-BE44-7205-E828-A807872AF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B74F3B-4475-D5BD-9A7C-03C82E0EF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208161-E5E4-E63A-6EA7-79824F9F2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4628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30615-3BE6-8044-77ED-A173610C5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232712-E20F-B5C5-CB5E-7D145FD9F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41369F-1BC0-B67B-FC77-677BBB7B2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D8BCF-A0BE-679F-6032-2ECE8B2D9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7926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A1CE52-00E7-E761-FA82-C9E7B86C8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6F2578-8835-34CD-930D-7D55244E0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512262-B856-FA18-9A4A-10DC5E9A4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6209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5E33C-0C0C-1B06-7C04-D02F6CA83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EC250-55FB-CDB2-AC7B-4E08B6F91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855B72-E290-3B3C-D2D9-5D1FB913E8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75ECA5-1619-6F9D-3251-AAD23F4E1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AEDC2B-96B0-3097-61C6-417E7231D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7BDD30-7F22-BD4E-27D9-181232B05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6086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841AD-112C-E3B1-A6B6-6AD967917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12CFFE-5002-1532-A2CD-E684E95B14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A3912D-AA33-FDF2-B48F-94BF86591D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E525A1-5402-3765-35D8-1F13D38C6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DCC84-82DA-1694-8139-BB6D93BD4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73185-4C1F-F0F9-24CE-806C07EF1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6973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C68D1-5757-AC58-0FE5-A75C253DC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428164-017D-AF23-F1C4-85B74A1AE7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921C5-0AC4-2BA4-2D6F-AB873049F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BEB69-9FB0-4739-DF65-5E0C64743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F5682-118B-F35D-9F53-57F6F8CD8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2676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842BB2-9D03-2D22-A540-410407CAFC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7A6B24-5C69-A5CE-38F2-C4811DCCE7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9FF4E-DCD2-B0FB-5615-836DF869F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51E33-E256-B330-E538-2D1290187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A1495F-2650-B1D1-B9DD-8F0F26FE3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5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D1404B-4D64-9BBA-D8FA-98F430DBC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4EC046-82BE-2B9F-50BE-0E2590E6AC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D6CF8-7C4E-C702-7923-3CF19D23CF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FB750-2FB0-D93A-EDB5-A2A0C302C7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E7F62B-0F19-B14E-9732-BBCFE6BF5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469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powerbi.com/groups/me/reports/6c2d3fea-1838-43a3-8ba9-6ce4b7f3a80e?pbi_source=PowerPoint" TargetMode="Externa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6c2d3fea-1838-43a3-8ba9-6ce4b7f3a80e/?pbi_source=PowerPoin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6c2d3fea-1838-43a3-8ba9-6ce4b7f3a80e/?pbi_source=PowerPoin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3.png"/><Relationship Id="rId4" Type="http://schemas.openxmlformats.org/officeDocument/2006/relationships/hyperlink" Target="https://app.powerbi.com/groups/me/reports/6c2d3fea-1838-43a3-8ba9-6ce4b7f3a80e/?pbi_source=PowerPoint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6c2d3fea-1838-43a3-8ba9-6ce4b7f3a80e/?pbi_source=PowerPoin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6c2d3fea-1838-43a3-8ba9-6ce4b7f3a80e/?pbi_source=PowerPoint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6.png"/><Relationship Id="rId4" Type="http://schemas.openxmlformats.org/officeDocument/2006/relationships/hyperlink" Target="https://app.powerbi.com/groups/me/reports/6c2d3fea-1838-43a3-8ba9-6ce4b7f3a80e/?pbi_source=PowerPoint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6c2d3fea-1838-43a3-8ba9-6ce4b7f3a80e/?pbi_source=PowerPoint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79EECFE-814E-4B68-96A7-86A795BD22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Triangle 19">
            <a:extLst>
              <a:ext uri="{FF2B5EF4-FFF2-40B4-BE49-F238E27FC236}">
                <a16:creationId xmlns:a16="http://schemas.microsoft.com/office/drawing/2014/main" id="{AF180F00-B4B2-4196-BB1C-ECD21B03F0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965200" y="1383527"/>
            <a:ext cx="6117158" cy="417516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r" fontAlgn="auto"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9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TC4</a:t>
            </a: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7986955" y="2573422"/>
            <a:ext cx="3113064" cy="1795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  <a:hlinkClick r:id="rId2"/>
              </a:rPr>
              <a:t>View in Power BI</a:t>
            </a:r>
            <a:endParaRPr lang="en-US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DF0D3DE-EC74-4C9F-AFA1-DC5CE5236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9EECFE-814E-4B68-96A7-86A795BD22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F180F00-B4B2-4196-BB1C-ECD21B03F0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0ACE86-F8B2-98F4-4BA8-87F5E1B146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0" y="1383527"/>
            <a:ext cx="6117158" cy="4175166"/>
          </a:xfrm>
        </p:spPr>
        <p:txBody>
          <a:bodyPr anchor="ctr">
            <a:normAutofit/>
          </a:bodyPr>
          <a:lstStyle/>
          <a:p>
            <a:pPr algn="r"/>
            <a:r>
              <a:rPr lang="pt-BR" sz="8900" dirty="0"/>
              <a:t>OBESIDADE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191A96-6B2E-9B30-58CF-8592ECE1D5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86955" y="2573422"/>
            <a:ext cx="3113064" cy="1795378"/>
          </a:xfrm>
        </p:spPr>
        <p:txBody>
          <a:bodyPr anchor="ctr">
            <a:normAutofit fontScale="70000" lnSpcReduction="20000"/>
          </a:bodyPr>
          <a:lstStyle/>
          <a:p>
            <a:pPr algn="l"/>
            <a:r>
              <a:rPr lang="pt-BR" dirty="0"/>
              <a:t>A obesidade é uma condição médica multifatorial que afeta pessoas de todas as idades e classes sociais, estando associada a fatores genéticos, comportamentais e ambientais. 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DF0D3DE-EC74-4C9F-AFA1-DC5CE5236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3221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66A255-239D-DE88-A3EE-0E2CF52A8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E2CC403-21CD-41DF-BAC4-329D7FF03C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7589DC-6DCF-6432-F57E-8440DA8F26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828" y="1147158"/>
            <a:ext cx="6038470" cy="4713316"/>
          </a:xfrm>
        </p:spPr>
        <p:txBody>
          <a:bodyPr anchor="ctr">
            <a:normAutofit/>
          </a:bodyPr>
          <a:lstStyle/>
          <a:p>
            <a:pPr algn="l"/>
            <a:r>
              <a:rPr lang="pt-BR"/>
              <a:t>OBESIDADE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3AA5FE-3FFC-4725-9ADD-E428544EC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5431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70700-3F72-44D4-8175-FEB2B9B23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093C0F6-5741-4C9D-90FF-A25824BFC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21B2E1B-E962-432C-ADA1-2934CE3C5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7653717E-6F8C-43E0-9893-C03AE87D1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BB14B4-EC3F-47C7-9AF3-B0E017B75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66160" y="391886"/>
            <a:ext cx="402901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E0F9EB-5A67-27FD-A672-90D813B10B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30590" y="1687486"/>
            <a:ext cx="3300156" cy="3636818"/>
          </a:xfrm>
        </p:spPr>
        <p:txBody>
          <a:bodyPr anchor="ctr">
            <a:normAutofit/>
          </a:bodyPr>
          <a:lstStyle/>
          <a:p>
            <a:pPr algn="l"/>
            <a:r>
              <a:rPr lang="pt-BR" dirty="0"/>
              <a:t>Diante desse cenário, este projeto tem como objetivo desenvolver um modelo preditivo capaz de auxiliar profissionais da saúde na identificação do nível de obesidade de um paciente.</a:t>
            </a:r>
          </a:p>
        </p:txBody>
      </p:sp>
    </p:spTree>
    <p:extLst>
      <p:ext uri="{BB962C8B-B14F-4D97-AF65-F5344CB8AC3E}">
        <p14:creationId xmlns:p14="http://schemas.microsoft.com/office/powerpoint/2010/main" val="3404090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9D6D5E-5C86-F7D0-3435-48CC335D4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9EECFE-814E-4B68-96A7-86A795BD22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F180F00-B4B2-4196-BB1C-ECD21B03F0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B171DC-F827-B3E6-F5FB-F990B1519A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0" y="1383527"/>
            <a:ext cx="6451600" cy="4175166"/>
          </a:xfrm>
        </p:spPr>
        <p:txBody>
          <a:bodyPr anchor="ctr">
            <a:normAutofit/>
          </a:bodyPr>
          <a:lstStyle/>
          <a:p>
            <a:pPr algn="r"/>
            <a:r>
              <a:rPr lang="pt-BR"/>
              <a:t>HABITOS DEMOGRAFICOS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CA69B3-52FA-572A-065A-D9238F69FE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86955" y="2573422"/>
            <a:ext cx="3113064" cy="1795378"/>
          </a:xfrm>
        </p:spPr>
        <p:txBody>
          <a:bodyPr anchor="ctr">
            <a:normAutofit/>
          </a:bodyPr>
          <a:lstStyle/>
          <a:p>
            <a:pPr algn="l"/>
            <a:endParaRPr lang="pt-BR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DF0D3DE-EC74-4C9F-AFA1-DC5CE5236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792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13C24A-6F69-5DD3-5A65-036D6960E34C}"/>
              </a:ext>
            </a:extLst>
          </p:cNvPr>
          <p:cNvSpPr txBox="1"/>
          <p:nvPr/>
        </p:nvSpPr>
        <p:spPr>
          <a:xfrm>
            <a:off x="1055715" y="4121355"/>
            <a:ext cx="5040285" cy="2019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 b="1" dirty="0"/>
              <a:t>Distribuição por Gênero:</a:t>
            </a:r>
            <a:r>
              <a:rPr lang="pt-BR" sz="2000" dirty="0"/>
              <a:t> O nível de "Obesity Type III" é predominantemente feminino (323 mulheres contra apenas 1 homem), enquanto "Obesity Type II" é majoritariamente masculino (295 homens contra 2 mulheres).</a:t>
            </a:r>
            <a:endParaRPr lang="en-US" sz="2000" dirty="0"/>
          </a:p>
        </p:txBody>
      </p:sp>
      <p:pic>
        <p:nvPicPr>
          <p:cNvPr id="3" name="Picture" title="This slide contains the following visuals: clusteredColumnChart ,pieChart ,IDADE MEDIA ,HISTORICO FAMILIAR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rcRect l="29678" b="37926"/>
          <a:stretch>
            <a:fillRect/>
          </a:stretch>
        </p:blipFill>
        <p:spPr>
          <a:xfrm>
            <a:off x="924634" y="619315"/>
            <a:ext cx="6947274" cy="3495485"/>
          </a:xfrm>
          <a:prstGeom prst="rect">
            <a:avLst/>
          </a:prstGeom>
          <a:noFill/>
        </p:spPr>
      </p:pic>
      <p:pic>
        <p:nvPicPr>
          <p:cNvPr id="2" name="Picture" title="This slide contains the following visuals: clusteredColumnChart ,pieChart ,IDADE MEDIA ,HISTORICO FAMILIAR. Please refer to the notes on this slide for details">
            <a:hlinkClick r:id="rId3"/>
            <a:extLst>
              <a:ext uri="{FF2B5EF4-FFF2-40B4-BE49-F238E27FC236}">
                <a16:creationId xmlns:a16="http://schemas.microsoft.com/office/drawing/2014/main" id="{4C16A711-8096-280F-BEF1-F04F01767C9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2500" r="67853" b="24167"/>
          <a:stretch>
            <a:fillRect/>
          </a:stretch>
        </p:blipFill>
        <p:spPr>
          <a:xfrm>
            <a:off x="7426007" y="3116181"/>
            <a:ext cx="4242495" cy="3259682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DADOS DEMOGRAFICOS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416F63-0E6A-38F2-E014-0A46FD518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5" name="Rectangle 84">
            <a:extLst>
              <a:ext uri="{FF2B5EF4-FFF2-40B4-BE49-F238E27FC236}">
                <a16:creationId xmlns:a16="http://schemas.microsoft.com/office/drawing/2014/main" id="{74B0B678-CD10-4371-96E5-2706F4579F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A9270323-9616-4384-857D-E86B78272E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A3838D5-9565-4601-BAC3-D1B5BDB803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3349A4B8-3246-4579-922E-FE1155C7F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1" name="Rectangle 90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" title="This slide contains the following visuals: clusteredColumnChart ,pieChart ,IDADE MEDIA ,HISTORICO FAMILIAR. Please refer to the notes on this slide for details">
            <a:hlinkClick r:id="rId3"/>
            <a:extLst>
              <a:ext uri="{FF2B5EF4-FFF2-40B4-BE49-F238E27FC236}">
                <a16:creationId xmlns:a16="http://schemas.microsoft.com/office/drawing/2014/main" id="{A1FF30DB-1245-AD1F-9EBA-6676E6A286A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6973" t="61667" r="11276" b="2917"/>
          <a:stretch>
            <a:fillRect/>
          </a:stretch>
        </p:blipFill>
        <p:spPr>
          <a:xfrm>
            <a:off x="1718393" y="774285"/>
            <a:ext cx="2781137" cy="2581173"/>
          </a:xfrm>
          <a:prstGeom prst="rect">
            <a:avLst/>
          </a:prstGeom>
          <a:noFill/>
        </p:spPr>
      </p:pic>
      <p:sp>
        <p:nvSpPr>
          <p:cNvPr id="93" name="Rectangle 92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57331" y="2188548"/>
            <a:ext cx="5041025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" title="This slide contains the following visuals: clusteredColumnChart ,pieChart ,IDADE MEDIA ,HISTORICO FAMILIAR. Please refer to the notes on this slide for details">
            <a:hlinkClick r:id="rId3"/>
            <a:extLst>
              <a:ext uri="{FF2B5EF4-FFF2-40B4-BE49-F238E27FC236}">
                <a16:creationId xmlns:a16="http://schemas.microsoft.com/office/drawing/2014/main" id="{F1556E6D-ADCC-D20A-F20B-355BF76CE8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990" t="59444" r="38455" b="5139"/>
          <a:stretch>
            <a:fillRect/>
          </a:stretch>
        </p:blipFill>
        <p:spPr>
          <a:xfrm>
            <a:off x="1475246" y="3575074"/>
            <a:ext cx="3267430" cy="2581173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A677DC-BBE4-2AB3-5950-16960ACCB225}"/>
              </a:ext>
            </a:extLst>
          </p:cNvPr>
          <p:cNvSpPr txBox="1"/>
          <p:nvPr/>
        </p:nvSpPr>
        <p:spPr>
          <a:xfrm>
            <a:off x="5868786" y="2508105"/>
            <a:ext cx="5408813" cy="36324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/>
              <a:t>Predisposição</a:t>
            </a:r>
            <a:r>
              <a:rPr lang="en-US" sz="2000" b="1" dirty="0"/>
              <a:t> </a:t>
            </a:r>
            <a:r>
              <a:rPr lang="en-US" sz="2000" b="1" dirty="0" err="1"/>
              <a:t>genética</a:t>
            </a:r>
            <a:r>
              <a:rPr lang="en-US" sz="2000" b="1" dirty="0"/>
              <a:t>:</a:t>
            </a:r>
            <a:r>
              <a:rPr lang="en-US" sz="2000" dirty="0"/>
              <a:t> é </a:t>
            </a:r>
            <a:r>
              <a:rPr lang="en-US" sz="2000" dirty="0" err="1"/>
              <a:t>fator</a:t>
            </a:r>
            <a:r>
              <a:rPr lang="en-US" sz="2000" dirty="0"/>
              <a:t> com </a:t>
            </a:r>
            <a:r>
              <a:rPr lang="en-US" sz="2000" dirty="0" err="1"/>
              <a:t>maior</a:t>
            </a:r>
            <a:r>
              <a:rPr lang="en-US" sz="2000" dirty="0"/>
              <a:t> </a:t>
            </a:r>
            <a:r>
              <a:rPr lang="en-US" sz="2000" dirty="0" err="1"/>
              <a:t>destaque</a:t>
            </a:r>
            <a:r>
              <a:rPr lang="en-US" sz="2000" dirty="0"/>
              <a:t>, dos 2.111 </a:t>
            </a:r>
            <a:r>
              <a:rPr lang="en-US" sz="2000" dirty="0" err="1"/>
              <a:t>indivíduos</a:t>
            </a:r>
            <a:r>
              <a:rPr lang="en-US" sz="2000" dirty="0"/>
              <a:t>, 1.726 </a:t>
            </a:r>
            <a:r>
              <a:rPr lang="en-US" sz="2000" dirty="0" err="1"/>
              <a:t>possuem</a:t>
            </a:r>
            <a:r>
              <a:rPr lang="en-US" sz="2000" dirty="0"/>
              <a:t> histórico familiar de </a:t>
            </a:r>
            <a:r>
              <a:rPr lang="en-US" sz="2000" dirty="0" err="1"/>
              <a:t>obesidade</a:t>
            </a:r>
            <a:r>
              <a:rPr lang="en-US" sz="2000" dirty="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/>
              <a:t>Correlação</a:t>
            </a:r>
            <a:r>
              <a:rPr lang="en-US" sz="2000" b="1" dirty="0"/>
              <a:t> familiar: </a:t>
            </a:r>
            <a:r>
              <a:rPr lang="en-US" sz="2000" dirty="0" err="1"/>
              <a:t>em</a:t>
            </a:r>
            <a:r>
              <a:rPr lang="en-US" sz="2000" dirty="0"/>
              <a:t> </a:t>
            </a:r>
            <a:r>
              <a:rPr lang="en-US" sz="2000" dirty="0" err="1"/>
              <a:t>categorias</a:t>
            </a:r>
            <a:r>
              <a:rPr lang="en-US" sz="2000" dirty="0"/>
              <a:t> </a:t>
            </a:r>
            <a:r>
              <a:rPr lang="en-US" sz="2000" dirty="0" err="1"/>
              <a:t>críticas</a:t>
            </a:r>
            <a:r>
              <a:rPr lang="en-US" sz="2000" dirty="0"/>
              <a:t> </a:t>
            </a:r>
            <a:r>
              <a:rPr lang="en-US" sz="2000" dirty="0" err="1"/>
              <a:t>como</a:t>
            </a:r>
            <a:r>
              <a:rPr lang="en-US" sz="2000" dirty="0"/>
              <a:t> ‘Obesity Type III’, 100% dos </a:t>
            </a:r>
            <a:r>
              <a:rPr lang="en-US" sz="2000" dirty="0" err="1"/>
              <a:t>indivíduos</a:t>
            </a:r>
            <a:r>
              <a:rPr lang="en-US" sz="2000" dirty="0"/>
              <a:t> (324 </a:t>
            </a:r>
            <a:r>
              <a:rPr lang="en-US" sz="2000" dirty="0" err="1"/>
              <a:t>pessoas</a:t>
            </a:r>
            <a:r>
              <a:rPr lang="en-US" sz="2000" dirty="0"/>
              <a:t>) </a:t>
            </a:r>
            <a:r>
              <a:rPr lang="en-US" sz="2000" dirty="0" err="1"/>
              <a:t>possuem</a:t>
            </a:r>
            <a:r>
              <a:rPr lang="en-US" sz="2000" dirty="0"/>
              <a:t> histórico familiar </a:t>
            </a:r>
            <a:r>
              <a:rPr lang="en-US" sz="2000" dirty="0" err="1"/>
              <a:t>positivo</a:t>
            </a:r>
            <a:r>
              <a:rPr lang="en-US" sz="2000" dirty="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/>
              <a:t>Gênero</a:t>
            </a:r>
            <a:r>
              <a:rPr lang="en-US" sz="2000" b="1" dirty="0"/>
              <a:t>:</a:t>
            </a:r>
            <a:r>
              <a:rPr lang="en-US" sz="2000" dirty="0"/>
              <a:t> O </a:t>
            </a:r>
            <a:r>
              <a:rPr lang="en-US" sz="2000" dirty="0" err="1"/>
              <a:t>nível</a:t>
            </a:r>
            <a:r>
              <a:rPr lang="en-US" sz="2000" dirty="0"/>
              <a:t> de ‘Obesity Type III’ é </a:t>
            </a:r>
            <a:r>
              <a:rPr lang="en-US" sz="2000" dirty="0" err="1"/>
              <a:t>predominantemente</a:t>
            </a:r>
            <a:r>
              <a:rPr lang="en-US" sz="2000" dirty="0"/>
              <a:t> </a:t>
            </a:r>
            <a:r>
              <a:rPr lang="en-US" sz="2000" dirty="0" err="1"/>
              <a:t>feminino</a:t>
            </a:r>
            <a:r>
              <a:rPr lang="en-US" sz="2000" dirty="0"/>
              <a:t> (323 </a:t>
            </a:r>
            <a:r>
              <a:rPr lang="en-US" sz="2000" dirty="0" err="1"/>
              <a:t>mulheres</a:t>
            </a:r>
            <a:r>
              <a:rPr lang="en-US" sz="2000" dirty="0"/>
              <a:t> para 1 </a:t>
            </a:r>
            <a:r>
              <a:rPr lang="en-US" sz="2000" dirty="0" err="1"/>
              <a:t>homem</a:t>
            </a:r>
            <a:r>
              <a:rPr lang="en-US" sz="2000" dirty="0"/>
              <a:t>), </a:t>
            </a:r>
            <a:r>
              <a:rPr lang="en-US" sz="2000" dirty="0" err="1"/>
              <a:t>enquanto</a:t>
            </a:r>
            <a:r>
              <a:rPr lang="en-US" sz="2000" dirty="0"/>
              <a:t> ‘Obesity Type II’ é </a:t>
            </a:r>
            <a:r>
              <a:rPr lang="en-US" sz="2000" dirty="0" err="1"/>
              <a:t>majotirariamente</a:t>
            </a:r>
            <a:r>
              <a:rPr lang="en-US" sz="2000" dirty="0"/>
              <a:t> masculine (295 </a:t>
            </a:r>
            <a:r>
              <a:rPr lang="en-US" sz="2000" dirty="0" err="1"/>
              <a:t>homens</a:t>
            </a:r>
            <a:r>
              <a:rPr lang="en-US" sz="2000" dirty="0"/>
              <a:t> contra 2 </a:t>
            </a:r>
            <a:r>
              <a:rPr lang="en-US" sz="2000" dirty="0" err="1"/>
              <a:t>mulheres</a:t>
            </a:r>
            <a:r>
              <a:rPr lang="en-US" sz="2000" dirty="0"/>
              <a:t>). </a:t>
            </a:r>
          </a:p>
        </p:txBody>
      </p:sp>
      <p:sp>
        <p:nvSpPr>
          <p:cNvPr id="4" name="Title" hidden="1">
            <a:extLst>
              <a:ext uri="{FF2B5EF4-FFF2-40B4-BE49-F238E27FC236}">
                <a16:creationId xmlns:a16="http://schemas.microsoft.com/office/drawing/2014/main" id="{FBF20655-040E-5608-411D-3AFE9E418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DADOS DEMOGRAFICOS</a:t>
            </a:r>
          </a:p>
        </p:txBody>
      </p:sp>
    </p:spTree>
    <p:extLst>
      <p:ext uri="{BB962C8B-B14F-4D97-AF65-F5344CB8AC3E}">
        <p14:creationId xmlns:p14="http://schemas.microsoft.com/office/powerpoint/2010/main" val="355598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4C0FA2-9D46-9551-D256-97654306E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9EECFE-814E-4B68-96A7-86A795BD22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F180F00-B4B2-4196-BB1C-ECD21B03F0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210357-C8EF-4D23-1818-CC64DBEFF9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0" y="1383527"/>
            <a:ext cx="6117158" cy="4175166"/>
          </a:xfrm>
        </p:spPr>
        <p:txBody>
          <a:bodyPr anchor="ctr">
            <a:normAutofit/>
          </a:bodyPr>
          <a:lstStyle/>
          <a:p>
            <a:pPr algn="r"/>
            <a:r>
              <a:rPr lang="pt-BR" sz="7400"/>
              <a:t>HABITOS ALIMENTARES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1F3B93-6519-C6AD-DCA0-18E3ECDE3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86955" y="2573422"/>
            <a:ext cx="3113064" cy="1795378"/>
          </a:xfrm>
        </p:spPr>
        <p:txBody>
          <a:bodyPr anchor="ctr">
            <a:normAutofit/>
          </a:bodyPr>
          <a:lstStyle/>
          <a:p>
            <a:pPr algn="l"/>
            <a:endParaRPr lang="pt-BR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DF0D3DE-EC74-4C9F-AFA1-DC5CE5236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0356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CEBBDD1-BBE8-FED9-55E2-41A5C93A24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3504" y="471748"/>
            <a:ext cx="3926164" cy="2552007"/>
          </a:xfrm>
          <a:prstGeom prst="rect">
            <a:avLst/>
          </a:prstGeom>
        </p:spPr>
      </p:pic>
      <p:pic>
        <p:nvPicPr>
          <p:cNvPr id="2" name="Picture" title="This slide contains the following visuals: lineStackedColumnComboChart ,pieChart ,lineStackedColumnComboChart ,LANCHINHOS ,CONSUMO DE ALCOOL. Please refer to the notes on this slide for details">
            <a:hlinkClick r:id="rId4"/>
            <a:extLst>
              <a:ext uri="{FF2B5EF4-FFF2-40B4-BE49-F238E27FC236}">
                <a16:creationId xmlns:a16="http://schemas.microsoft.com/office/drawing/2014/main" id="{D26D84D2-0F13-B298-E224-EB4E06C7C14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6458" r="64598"/>
          <a:stretch>
            <a:fillRect/>
          </a:stretch>
        </p:blipFill>
        <p:spPr>
          <a:xfrm>
            <a:off x="7114162" y="3784409"/>
            <a:ext cx="4324849" cy="2335648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HABITOS ALIMENTARES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667590C-6101-254D-9761-45207C6682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2989" y="853888"/>
            <a:ext cx="3932237" cy="1707777"/>
          </a:xfrm>
        </p:spPr>
        <p:txBody>
          <a:bodyPr/>
          <a:lstStyle/>
          <a:p>
            <a:r>
              <a:rPr lang="pt-BR" b="1" dirty="0"/>
              <a:t>Consumo de Água:</a:t>
            </a:r>
            <a:r>
              <a:rPr lang="pt-BR" dirty="0"/>
              <a:t> Existe uma oscilação curiosa. O grupo "Obesity Type III" apresenta a maior média de consumo de água (</a:t>
            </a:r>
            <a:r>
              <a:rPr lang="pt-BR" b="1" dirty="0"/>
              <a:t>2,27 litros/dia</a:t>
            </a:r>
            <a:r>
              <a:rPr lang="pt-BR" dirty="0"/>
              <a:t>), enquanto o grupo "Obesity Type II" e o "Normal Weight" apresentam as menores médias (</a:t>
            </a:r>
            <a:r>
              <a:rPr lang="pt-BR" b="1" dirty="0"/>
              <a:t>1,85 litros/dia</a:t>
            </a:r>
            <a:r>
              <a:rPr lang="pt-BR" dirty="0"/>
              <a:t>).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E780314-56CC-4E62-5D42-41179A1C8A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247" y="2835611"/>
            <a:ext cx="462578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b="1" dirty="0"/>
              <a:t>Álcool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 nível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Obesity_Type_III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 vasta maioria (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323 pessoas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consome álcool apenas ocasionalmente, com apenas 1 relato de consumo frequente.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 nível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Obesity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_Type_I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apresenta o maior número absoluto de pessoas que não bebem (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165 pessoas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seguido pelo nível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Insufficient_Weight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117 pessoas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 grupo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Overweight_Level_II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possui o maior número de consumidores frequentes de álcool (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19 pessoas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entre todas as categorias.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607887-448A-E8C3-1FBE-64B7CC33C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lineStackedColumnComboChart ,pieChart ,lineStackedColumnComboChart ,LANCHINHOS ,CONSUMO DE ALCOOL. Please refer to the notes on this slide for details">
            <a:hlinkClick r:id="rId3"/>
            <a:extLst>
              <a:ext uri="{FF2B5EF4-FFF2-40B4-BE49-F238E27FC236}">
                <a16:creationId xmlns:a16="http://schemas.microsoft.com/office/drawing/2014/main" id="{5514168E-FBCE-703E-AC65-4388C98C884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" r="61437" b="65555"/>
          <a:stretch>
            <a:fillRect/>
          </a:stretch>
        </p:blipFill>
        <p:spPr>
          <a:xfrm>
            <a:off x="5640572" y="1945936"/>
            <a:ext cx="5608830" cy="2855552"/>
          </a:xfrm>
          <a:prstGeom prst="rect">
            <a:avLst/>
          </a:prstGeom>
          <a:noFill/>
        </p:spPr>
      </p:pic>
      <p:sp>
        <p:nvSpPr>
          <p:cNvPr id="4" name="Title" hidden="1">
            <a:extLst>
              <a:ext uri="{FF2B5EF4-FFF2-40B4-BE49-F238E27FC236}">
                <a16:creationId xmlns:a16="http://schemas.microsoft.com/office/drawing/2014/main" id="{A9931028-2F05-FD60-5BBB-787C18F03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HABITOS ALIMENTARES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7700FB-9FCC-BC0B-0270-9A8A4532B4D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BR" b="1" dirty="0"/>
              <a:t>Consumo de Alta Caloria:</a:t>
            </a:r>
            <a:r>
              <a:rPr lang="pt-BR" dirty="0"/>
              <a:t> </a:t>
            </a:r>
            <a:r>
              <a:rPr lang="pt-BR" b="1" dirty="0"/>
              <a:t>88,39% da amostra (1.866 pessoas)</a:t>
            </a:r>
            <a:r>
              <a:rPr lang="pt-BR" dirty="0"/>
              <a:t> admite consumir alimentos de alta caloria regularmente.</a:t>
            </a:r>
          </a:p>
        </p:txBody>
      </p:sp>
    </p:spTree>
    <p:extLst>
      <p:ext uri="{BB962C8B-B14F-4D97-AF65-F5344CB8AC3E}">
        <p14:creationId xmlns:p14="http://schemas.microsoft.com/office/powerpoint/2010/main" val="472081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BFA4C5-7060-25E3-27D6-5A7FDAC1E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572B370-29AD-DB56-28EA-E42E643ED208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39788" y="1665840"/>
            <a:ext cx="5814239" cy="346115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pt-BR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pt-BR" sz="2000" b="1" i="0" u="none" strike="noStrike" cap="none" normalizeH="0" baseline="0" dirty="0" err="1">
                <a:ln>
                  <a:noFill/>
                </a:ln>
                <a:effectLst/>
              </a:rPr>
              <a:t>Refeições</a:t>
            </a:r>
            <a:r>
              <a:rPr kumimoji="0" lang="en-US" altLang="pt-BR" sz="2000" b="1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2000" b="1" i="0" u="none" strike="noStrike" cap="none" normalizeH="0" baseline="0" dirty="0" err="1">
                <a:ln>
                  <a:noFill/>
                </a:ln>
                <a:effectLst/>
              </a:rPr>
              <a:t>Principais</a:t>
            </a:r>
            <a:r>
              <a:rPr kumimoji="0" lang="en-US" altLang="pt-BR" sz="2000" b="1" i="0" u="none" strike="noStrike" cap="none" normalizeH="0" baseline="0" dirty="0">
                <a:ln>
                  <a:noFill/>
                </a:ln>
                <a:effectLst/>
              </a:rPr>
              <a:t>:</a:t>
            </a:r>
            <a:r>
              <a:rPr kumimoji="0" lang="en-US" altLang="pt-BR" sz="2000" b="0" i="0" u="none" strike="noStrike" cap="none" normalizeH="0" baseline="0" dirty="0">
                <a:ln>
                  <a:noFill/>
                </a:ln>
                <a:effectLst/>
              </a:rPr>
              <a:t> O </a:t>
            </a:r>
            <a:r>
              <a:rPr kumimoji="0" lang="en-US" altLang="pt-BR" sz="2000" b="0" i="0" u="none" strike="noStrike" cap="none" normalizeH="0" baseline="0" dirty="0" err="1">
                <a:ln>
                  <a:noFill/>
                </a:ln>
                <a:effectLst/>
              </a:rPr>
              <a:t>grupo</a:t>
            </a:r>
            <a:r>
              <a:rPr kumimoji="0" lang="en-US" altLang="pt-BR" sz="2000" b="0" i="0" u="none" strike="noStrike" cap="none" normalizeH="0" baseline="0" dirty="0">
                <a:ln>
                  <a:noFill/>
                </a:ln>
                <a:effectLst/>
              </a:rPr>
              <a:t> "Obesity Type III" </a:t>
            </a:r>
            <a:r>
              <a:rPr kumimoji="0" lang="en-US" altLang="pt-BR" sz="2000" b="0" i="0" u="none" strike="noStrike" cap="none" normalizeH="0" baseline="0" dirty="0" err="1">
                <a:ln>
                  <a:noFill/>
                </a:ln>
                <a:effectLst/>
              </a:rPr>
              <a:t>realiza</a:t>
            </a:r>
            <a:r>
              <a:rPr kumimoji="0" lang="en-US" altLang="pt-BR" sz="2000" b="0" i="0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en-US" altLang="pt-BR" sz="2000" b="0" i="0" u="none" strike="noStrike" cap="none" normalizeH="0" baseline="0" dirty="0" err="1">
                <a:ln>
                  <a:noFill/>
                </a:ln>
                <a:effectLst/>
              </a:rPr>
              <a:t>em</a:t>
            </a:r>
            <a:r>
              <a:rPr kumimoji="0" lang="en-US" altLang="pt-BR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2000" b="0" i="0" u="none" strike="noStrike" cap="none" normalizeH="0" baseline="0" dirty="0" err="1">
                <a:ln>
                  <a:noFill/>
                </a:ln>
                <a:effectLst/>
              </a:rPr>
              <a:t>média</a:t>
            </a:r>
            <a:r>
              <a:rPr kumimoji="0" lang="en-US" altLang="pt-BR" sz="2000" b="0" i="0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en-US" altLang="pt-BR" sz="2000" b="1" i="0" u="none" strike="noStrike" cap="none" normalizeH="0" baseline="0" dirty="0">
                <a:ln>
                  <a:noFill/>
                </a:ln>
                <a:effectLst/>
              </a:rPr>
              <a:t>3 </a:t>
            </a:r>
            <a:r>
              <a:rPr kumimoji="0" lang="en-US" altLang="pt-BR" sz="2000" b="1" i="0" u="none" strike="noStrike" cap="none" normalizeH="0" baseline="0" dirty="0" err="1">
                <a:ln>
                  <a:noFill/>
                </a:ln>
                <a:effectLst/>
              </a:rPr>
              <a:t>refeições</a:t>
            </a:r>
            <a:r>
              <a:rPr kumimoji="0" lang="en-US" altLang="pt-BR" sz="2000" b="1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2000" b="1" i="0" u="none" strike="noStrike" cap="none" normalizeH="0" baseline="0" dirty="0" err="1">
                <a:ln>
                  <a:noFill/>
                </a:ln>
                <a:effectLst/>
              </a:rPr>
              <a:t>principais</a:t>
            </a:r>
            <a:r>
              <a:rPr kumimoji="0" lang="en-US" altLang="pt-BR" sz="2000" b="1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2000" b="1" i="0" u="none" strike="noStrike" cap="none" normalizeH="0" baseline="0" dirty="0" err="1">
                <a:ln>
                  <a:noFill/>
                </a:ln>
                <a:effectLst/>
              </a:rPr>
              <a:t>por</a:t>
            </a:r>
            <a:r>
              <a:rPr kumimoji="0" lang="en-US" altLang="pt-BR" sz="2000" b="1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2000" b="1" i="0" u="none" strike="noStrike" cap="none" normalizeH="0" baseline="0" dirty="0" err="1">
                <a:ln>
                  <a:noFill/>
                </a:ln>
                <a:effectLst/>
              </a:rPr>
              <a:t>dia</a:t>
            </a:r>
            <a:r>
              <a:rPr kumimoji="0" lang="en-US" altLang="pt-BR" sz="2000" b="0" i="0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en-US" altLang="pt-BR" sz="2000" b="0" i="0" u="none" strike="noStrike" cap="none" normalizeH="0" baseline="0" dirty="0" err="1">
                <a:ln>
                  <a:noFill/>
                </a:ln>
                <a:effectLst/>
              </a:rPr>
              <a:t>enquanto</a:t>
            </a:r>
            <a:r>
              <a:rPr kumimoji="0" lang="en-US" altLang="pt-BR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2000" b="0" i="0" u="none" strike="noStrike" cap="none" normalizeH="0" baseline="0" dirty="0" err="1">
                <a:ln>
                  <a:noFill/>
                </a:ln>
                <a:effectLst/>
              </a:rPr>
              <a:t>os</a:t>
            </a:r>
            <a:r>
              <a:rPr kumimoji="0" lang="en-US" altLang="pt-BR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2000" b="0" i="0" u="none" strike="noStrike" cap="none" normalizeH="0" baseline="0" dirty="0" err="1">
                <a:ln>
                  <a:noFill/>
                </a:ln>
                <a:effectLst/>
              </a:rPr>
              <a:t>níveis</a:t>
            </a:r>
            <a:r>
              <a:rPr kumimoji="0" lang="en-US" altLang="pt-BR" sz="2000" b="0" i="0" u="none" strike="noStrike" cap="none" normalizeH="0" baseline="0" dirty="0">
                <a:ln>
                  <a:noFill/>
                </a:ln>
                <a:effectLst/>
              </a:rPr>
              <a:t> de </a:t>
            </a:r>
            <a:r>
              <a:rPr kumimoji="0" lang="en-US" altLang="pt-BR" sz="2000" b="0" i="0" u="none" strike="noStrike" cap="none" normalizeH="0" baseline="0" dirty="0" err="1">
                <a:ln>
                  <a:noFill/>
                </a:ln>
                <a:effectLst/>
              </a:rPr>
              <a:t>sobrepeso</a:t>
            </a:r>
            <a:r>
              <a:rPr kumimoji="0" lang="en-US" altLang="pt-BR" sz="2000" b="0" i="0" u="none" strike="noStrike" cap="none" normalizeH="0" baseline="0" dirty="0">
                <a:ln>
                  <a:noFill/>
                </a:ln>
                <a:effectLst/>
              </a:rPr>
              <a:t> (Overweight I e II) </a:t>
            </a:r>
            <a:r>
              <a:rPr kumimoji="0" lang="en-US" altLang="pt-BR" sz="2000" b="0" i="0" u="none" strike="noStrike" cap="none" normalizeH="0" baseline="0" dirty="0" err="1">
                <a:ln>
                  <a:noFill/>
                </a:ln>
                <a:effectLst/>
              </a:rPr>
              <a:t>realizam</a:t>
            </a:r>
            <a:r>
              <a:rPr kumimoji="0" lang="en-US" altLang="pt-BR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2000" b="0" i="0" u="none" strike="noStrike" cap="none" normalizeH="0" baseline="0" dirty="0" err="1">
                <a:ln>
                  <a:noFill/>
                </a:ln>
                <a:effectLst/>
              </a:rPr>
              <a:t>apenas</a:t>
            </a:r>
            <a:r>
              <a:rPr kumimoji="0" lang="en-US" altLang="pt-BR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2000" b="1" i="0" u="none" strike="noStrike" cap="none" normalizeH="0" baseline="0" dirty="0">
                <a:ln>
                  <a:noFill/>
                </a:ln>
                <a:effectLst/>
              </a:rPr>
              <a:t>2,51</a:t>
            </a:r>
            <a:r>
              <a:rPr kumimoji="0" lang="en-US" altLang="pt-BR" sz="2000" b="0" i="0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en-US" altLang="pt-BR" sz="2000" b="0" i="0" u="none" strike="noStrike" cap="none" normalizeH="0" baseline="0" dirty="0" err="1">
                <a:ln>
                  <a:noFill/>
                </a:ln>
                <a:effectLst/>
              </a:rPr>
              <a:t>sugerindo</a:t>
            </a:r>
            <a:r>
              <a:rPr kumimoji="0" lang="en-US" altLang="pt-BR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2000" b="0" i="0" u="none" strike="noStrike" cap="none" normalizeH="0" baseline="0" dirty="0" err="1">
                <a:ln>
                  <a:noFill/>
                </a:ln>
                <a:effectLst/>
              </a:rPr>
              <a:t>que</a:t>
            </a:r>
            <a:r>
              <a:rPr kumimoji="0" lang="en-US" altLang="pt-BR" sz="2000" b="0" i="0" u="none" strike="noStrike" cap="none" normalizeH="0" baseline="0" dirty="0">
                <a:ln>
                  <a:noFill/>
                </a:ln>
                <a:effectLst/>
              </a:rPr>
              <a:t> o volume </a:t>
            </a:r>
            <a:r>
              <a:rPr kumimoji="0" lang="en-US" altLang="pt-BR" sz="2000" b="0" i="0" u="none" strike="noStrike" cap="none" normalizeH="0" baseline="0" dirty="0" err="1">
                <a:ln>
                  <a:noFill/>
                </a:ln>
                <a:effectLst/>
              </a:rPr>
              <a:t>ou</a:t>
            </a:r>
            <a:r>
              <a:rPr kumimoji="0" lang="en-US" altLang="pt-BR" sz="2000" b="0" i="0" u="none" strike="noStrike" cap="none" normalizeH="0" baseline="0" dirty="0">
                <a:ln>
                  <a:noFill/>
                </a:ln>
                <a:effectLst/>
              </a:rPr>
              <a:t> a </a:t>
            </a:r>
            <a:r>
              <a:rPr kumimoji="0" lang="en-US" altLang="pt-BR" sz="2000" b="0" i="0" u="none" strike="noStrike" cap="none" normalizeH="0" baseline="0" dirty="0" err="1">
                <a:ln>
                  <a:noFill/>
                </a:ln>
                <a:effectLst/>
              </a:rPr>
              <a:t>qualidade</a:t>
            </a:r>
            <a:r>
              <a:rPr kumimoji="0" lang="en-US" altLang="pt-BR" sz="2000" b="0" i="0" u="none" strike="noStrike" cap="none" normalizeH="0" baseline="0" dirty="0">
                <a:ln>
                  <a:noFill/>
                </a:ln>
                <a:effectLst/>
              </a:rPr>
              <a:t> das </a:t>
            </a:r>
            <a:r>
              <a:rPr kumimoji="0" lang="en-US" altLang="pt-BR" sz="2000" b="0" i="0" u="none" strike="noStrike" cap="none" normalizeH="0" baseline="0" dirty="0" err="1">
                <a:ln>
                  <a:noFill/>
                </a:ln>
                <a:effectLst/>
              </a:rPr>
              <a:t>refeições</a:t>
            </a:r>
            <a:r>
              <a:rPr kumimoji="0" lang="en-US" altLang="pt-BR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2000" b="0" i="0" u="none" strike="noStrike" cap="none" normalizeH="0" baseline="0" dirty="0" err="1">
                <a:ln>
                  <a:noFill/>
                </a:ln>
                <a:effectLst/>
              </a:rPr>
              <a:t>pode</a:t>
            </a:r>
            <a:r>
              <a:rPr kumimoji="0" lang="en-US" altLang="pt-BR" sz="2000" b="0" i="0" u="none" strike="noStrike" cap="none" normalizeH="0" baseline="0" dirty="0">
                <a:ln>
                  <a:noFill/>
                </a:ln>
                <a:effectLst/>
              </a:rPr>
              <a:t> ser </a:t>
            </a:r>
            <a:r>
              <a:rPr kumimoji="0" lang="en-US" altLang="pt-BR" sz="2000" b="0" i="0" u="none" strike="noStrike" cap="none" normalizeH="0" baseline="0" dirty="0" err="1">
                <a:ln>
                  <a:noFill/>
                </a:ln>
                <a:effectLst/>
              </a:rPr>
              <a:t>mais</a:t>
            </a:r>
            <a:r>
              <a:rPr kumimoji="0" lang="en-US" altLang="pt-BR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2000" b="0" i="0" u="none" strike="noStrike" cap="none" normalizeH="0" baseline="0" dirty="0" err="1">
                <a:ln>
                  <a:noFill/>
                </a:ln>
                <a:effectLst/>
              </a:rPr>
              <a:t>determinante</a:t>
            </a:r>
            <a:r>
              <a:rPr kumimoji="0" lang="en-US" altLang="pt-BR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2000" b="0" i="0" u="none" strike="noStrike" cap="none" normalizeH="0" baseline="0" dirty="0" err="1">
                <a:ln>
                  <a:noFill/>
                </a:ln>
                <a:effectLst/>
              </a:rPr>
              <a:t>que</a:t>
            </a:r>
            <a:r>
              <a:rPr kumimoji="0" lang="en-US" altLang="pt-BR" sz="2000" b="0" i="0" u="none" strike="noStrike" cap="none" normalizeH="0" baseline="0" dirty="0">
                <a:ln>
                  <a:noFill/>
                </a:ln>
                <a:effectLst/>
              </a:rPr>
              <a:t> a </a:t>
            </a:r>
            <a:r>
              <a:rPr kumimoji="0" lang="en-US" altLang="pt-BR" sz="2000" b="0" i="0" u="none" strike="noStrike" cap="none" normalizeH="0" baseline="0" dirty="0" err="1">
                <a:ln>
                  <a:noFill/>
                </a:ln>
                <a:effectLst/>
              </a:rPr>
              <a:t>frequência</a:t>
            </a:r>
            <a:r>
              <a:rPr kumimoji="0" lang="en-US" altLang="pt-BR" sz="20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pt-BR" sz="2000" b="1" i="0" u="none" strike="noStrike" cap="none" normalizeH="0" baseline="0" dirty="0" err="1">
                <a:ln>
                  <a:noFill/>
                </a:ln>
                <a:effectLst/>
              </a:rPr>
              <a:t>Petiscos</a:t>
            </a:r>
            <a:r>
              <a:rPr kumimoji="0" lang="en-US" altLang="pt-BR" sz="2000" b="1" i="0" u="none" strike="noStrike" cap="none" normalizeH="0" baseline="0" dirty="0">
                <a:ln>
                  <a:noFill/>
                </a:ln>
                <a:effectLst/>
              </a:rPr>
              <a:t> (</a:t>
            </a:r>
            <a:r>
              <a:rPr kumimoji="0" lang="en-US" altLang="pt-BR" sz="2000" b="1" i="0" u="none" strike="noStrike" cap="none" normalizeH="0" baseline="0" dirty="0" err="1">
                <a:ln>
                  <a:noFill/>
                </a:ln>
                <a:effectLst/>
              </a:rPr>
              <a:t>Lanchinhos</a:t>
            </a:r>
            <a:r>
              <a:rPr kumimoji="0" lang="en-US" altLang="pt-BR" sz="2000" b="1" i="0" u="none" strike="noStrike" cap="none" normalizeH="0" baseline="0" dirty="0">
                <a:ln>
                  <a:noFill/>
                </a:ln>
                <a:effectLst/>
              </a:rPr>
              <a:t>):</a:t>
            </a:r>
            <a:r>
              <a:rPr kumimoji="0" lang="en-US" altLang="pt-BR" sz="2000" b="0" i="0" u="none" strike="noStrike" cap="none" normalizeH="0" baseline="0" dirty="0">
                <a:ln>
                  <a:noFill/>
                </a:ln>
                <a:effectLst/>
              </a:rPr>
              <a:t> A grande </a:t>
            </a:r>
            <a:r>
              <a:rPr kumimoji="0" lang="en-US" altLang="pt-BR" sz="2000" b="0" i="0" u="none" strike="noStrike" cap="none" normalizeH="0" baseline="0" dirty="0" err="1">
                <a:ln>
                  <a:noFill/>
                </a:ln>
                <a:effectLst/>
              </a:rPr>
              <a:t>maioria</a:t>
            </a:r>
            <a:r>
              <a:rPr kumimoji="0" lang="en-US" altLang="pt-BR" sz="2000" b="0" i="0" u="none" strike="noStrike" cap="none" normalizeH="0" baseline="0" dirty="0">
                <a:ln>
                  <a:noFill/>
                </a:ln>
                <a:effectLst/>
              </a:rPr>
              <a:t> dos </a:t>
            </a:r>
            <a:r>
              <a:rPr kumimoji="0" lang="en-US" altLang="pt-BR" sz="2000" b="0" i="0" u="none" strike="noStrike" cap="none" normalizeH="0" baseline="0" dirty="0" err="1">
                <a:ln>
                  <a:noFill/>
                </a:ln>
                <a:effectLst/>
              </a:rPr>
              <a:t>indivíduos</a:t>
            </a:r>
            <a:r>
              <a:rPr kumimoji="0" lang="en-US" altLang="pt-BR" sz="2000" b="0" i="0" u="none" strike="noStrike" cap="none" normalizeH="0" baseline="0" dirty="0">
                <a:ln>
                  <a:noFill/>
                </a:ln>
                <a:effectLst/>
              </a:rPr>
              <a:t> (1.765) </a:t>
            </a:r>
            <a:r>
              <a:rPr kumimoji="0" lang="en-US" altLang="pt-BR" sz="2000" b="0" i="0" u="none" strike="noStrike" cap="none" normalizeH="0" baseline="0" dirty="0" err="1">
                <a:ln>
                  <a:noFill/>
                </a:ln>
                <a:effectLst/>
              </a:rPr>
              <a:t>afirma</a:t>
            </a:r>
            <a:r>
              <a:rPr kumimoji="0" lang="en-US" altLang="pt-BR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2000" b="0" i="0" u="none" strike="noStrike" cap="none" normalizeH="0" baseline="0" dirty="0" err="1">
                <a:ln>
                  <a:noFill/>
                </a:ln>
                <a:effectLst/>
              </a:rPr>
              <a:t>petiscar</a:t>
            </a:r>
            <a:r>
              <a:rPr kumimoji="0" lang="en-US" altLang="pt-BR" sz="2000" b="0" i="0" u="none" strike="noStrike" cap="none" normalizeH="0" baseline="0" dirty="0">
                <a:ln>
                  <a:noFill/>
                </a:ln>
                <a:effectLst/>
              </a:rPr>
              <a:t> "</a:t>
            </a:r>
            <a:r>
              <a:rPr kumimoji="0" lang="en-US" altLang="pt-BR" sz="2000" b="0" i="0" u="none" strike="noStrike" cap="none" normalizeH="0" baseline="0" dirty="0" err="1">
                <a:ln>
                  <a:noFill/>
                </a:ln>
                <a:effectLst/>
              </a:rPr>
              <a:t>às</a:t>
            </a:r>
            <a:r>
              <a:rPr kumimoji="0" lang="en-US" altLang="pt-BR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pt-BR" sz="2000" b="0" i="0" u="none" strike="noStrike" cap="none" normalizeH="0" baseline="0" dirty="0" err="1">
                <a:ln>
                  <a:noFill/>
                </a:ln>
                <a:effectLst/>
              </a:rPr>
              <a:t>vezes</a:t>
            </a:r>
            <a:r>
              <a:rPr kumimoji="0" lang="en-US" altLang="pt-BR" sz="2000" b="0" i="0" u="none" strike="noStrike" cap="none" normalizeH="0" baseline="0" dirty="0">
                <a:ln>
                  <a:noFill/>
                </a:ln>
                <a:effectLst/>
              </a:rPr>
              <a:t>" (Sometimes), </a:t>
            </a:r>
            <a:r>
              <a:rPr kumimoji="0" lang="en-US" altLang="pt-BR" sz="2000" b="0" i="0" u="none" strike="noStrike" cap="none" normalizeH="0" baseline="0" dirty="0" err="1">
                <a:ln>
                  <a:noFill/>
                </a:ln>
                <a:effectLst/>
              </a:rPr>
              <a:t>independente</a:t>
            </a:r>
            <a:r>
              <a:rPr kumimoji="0" lang="en-US" altLang="pt-BR" sz="2000" b="0" i="0" u="none" strike="noStrike" cap="none" normalizeH="0" baseline="0" dirty="0">
                <a:ln>
                  <a:noFill/>
                </a:ln>
                <a:effectLst/>
              </a:rPr>
              <a:t> do </a:t>
            </a:r>
            <a:r>
              <a:rPr kumimoji="0" lang="en-US" altLang="pt-BR" sz="2000" b="0" i="0" u="none" strike="noStrike" cap="none" normalizeH="0" baseline="0" dirty="0" err="1">
                <a:ln>
                  <a:noFill/>
                </a:ln>
                <a:effectLst/>
              </a:rPr>
              <a:t>nível</a:t>
            </a:r>
            <a:r>
              <a:rPr kumimoji="0" lang="en-US" altLang="pt-BR" sz="2000" b="0" i="0" u="none" strike="noStrike" cap="none" normalizeH="0" baseline="0" dirty="0">
                <a:ln>
                  <a:noFill/>
                </a:ln>
                <a:effectLst/>
              </a:rPr>
              <a:t> de peso.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pt-BR" sz="20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pic>
        <p:nvPicPr>
          <p:cNvPr id="5" name="Picture" title="This slide contains the following visuals: lineStackedColumnComboChart ,pieChart ,lineStackedColumnComboChart ,LANCHINHOS ,CONSUMO DE ALCOOL. Please refer to the notes on this slide for details">
            <a:hlinkClick r:id="rId3"/>
            <a:extLst>
              <a:ext uri="{FF2B5EF4-FFF2-40B4-BE49-F238E27FC236}">
                <a16:creationId xmlns:a16="http://schemas.microsoft.com/office/drawing/2014/main" id="{E440436A-DAEF-881A-0307-7621C7FDA9E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2645" r="65230" b="32911"/>
          <a:stretch>
            <a:fillRect/>
          </a:stretch>
        </p:blipFill>
        <p:spPr>
          <a:xfrm>
            <a:off x="7679766" y="856194"/>
            <a:ext cx="3712869" cy="2096494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9CFDE69-99E8-FF15-A78E-C816C027AA1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953" r="-1" b="2978"/>
          <a:stretch>
            <a:fillRect/>
          </a:stretch>
        </p:blipFill>
        <p:spPr>
          <a:xfrm>
            <a:off x="7665410" y="3402018"/>
            <a:ext cx="3712869" cy="219087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A65989E-BBD5-44D7-AA86-7AFD5D46B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66000">
                <a:srgbClr val="000000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1A2881-D8D7-4A7D-ACA3-E9F849F85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6400800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" hidden="1">
            <a:extLst>
              <a:ext uri="{FF2B5EF4-FFF2-40B4-BE49-F238E27FC236}">
                <a16:creationId xmlns:a16="http://schemas.microsoft.com/office/drawing/2014/main" id="{ACBB1051-19D9-AE0B-F3AD-2BA0492E3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HABITOS ALIMENTARES</a:t>
            </a:r>
          </a:p>
        </p:txBody>
      </p:sp>
    </p:spTree>
    <p:extLst>
      <p:ext uri="{BB962C8B-B14F-4D97-AF65-F5344CB8AC3E}">
        <p14:creationId xmlns:p14="http://schemas.microsoft.com/office/powerpoint/2010/main" val="3403117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873AEA-3A56-B450-0719-49A4AE601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9EECFE-814E-4B68-96A7-86A795BD22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F180F00-B4B2-4196-BB1C-ECD21B03F0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D8B62A-E806-DC40-0FB5-C02356FD97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0" y="1383527"/>
            <a:ext cx="6117158" cy="4175166"/>
          </a:xfrm>
        </p:spPr>
        <p:txBody>
          <a:bodyPr anchor="ctr">
            <a:normAutofit/>
          </a:bodyPr>
          <a:lstStyle/>
          <a:p>
            <a:pPr algn="r"/>
            <a:r>
              <a:rPr lang="pt-BR" sz="9600"/>
              <a:t>HABITOS DE VIDA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F907CE-4AAA-394A-24F5-9DE6B7B7E4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86955" y="2573422"/>
            <a:ext cx="3113064" cy="1795378"/>
          </a:xfrm>
        </p:spPr>
        <p:txBody>
          <a:bodyPr anchor="ctr">
            <a:normAutofit/>
          </a:bodyPr>
          <a:lstStyle/>
          <a:p>
            <a:pPr algn="l"/>
            <a:endParaRPr lang="pt-BR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DF0D3DE-EC74-4C9F-AFA1-DC5CE5236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1095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HABITOS DE VIDA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94C0DD-0357-BF7D-46ED-4A58201D15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6100" y="2057400"/>
            <a:ext cx="4225925" cy="3811588"/>
          </a:xfrm>
        </p:spPr>
        <p:txBody>
          <a:bodyPr/>
          <a:lstStyle/>
          <a:p>
            <a:r>
              <a:rPr lang="pt-BR" b="1" dirty="0"/>
              <a:t>Meios de Transporte:</a:t>
            </a:r>
            <a:r>
              <a:rPr lang="pt-BR" dirty="0"/>
              <a:t> O </a:t>
            </a:r>
            <a:r>
              <a:rPr lang="pt-BR" b="1" dirty="0"/>
              <a:t>Transporte Público é utilizado por 74,85%</a:t>
            </a:r>
            <a:r>
              <a:rPr lang="pt-BR" dirty="0"/>
              <a:t> da amostra. O uso de meios ativos (Caminhada ou Bicicleta) é extremamente baixo, somando pouco mais de 3%.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E5FB46-BC3A-6B71-D8D2-DF6EEB779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100" y="260039"/>
            <a:ext cx="5265833" cy="3535738"/>
          </a:xfrm>
          <a:prstGeom prst="rect">
            <a:avLst/>
          </a:prstGeom>
        </p:spPr>
      </p:pic>
      <p:pic>
        <p:nvPicPr>
          <p:cNvPr id="6" name="Picture" title="This slide contains the following visuals: pieChart ,USO DE ELETRONICOS ,textbox ,ATIVIDADE FISICA ,textbox. Please refer to the notes on this slide for details">
            <a:hlinkClick r:id="rId4"/>
            <a:extLst>
              <a:ext uri="{FF2B5EF4-FFF2-40B4-BE49-F238E27FC236}">
                <a16:creationId xmlns:a16="http://schemas.microsoft.com/office/drawing/2014/main" id="{5FF9EDB0-CE81-B9E9-52E5-3B1BABDC4A8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85" t="56851" r="53724" b="6853"/>
          <a:stretch>
            <a:fillRect/>
          </a:stretch>
        </p:blipFill>
        <p:spPr>
          <a:xfrm>
            <a:off x="6273800" y="3898900"/>
            <a:ext cx="5372100" cy="2489200"/>
          </a:xfrm>
          <a:prstGeom prst="rect">
            <a:avLst/>
          </a:prstGeom>
          <a:noFill/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CEB9AF0F-FFC7-0E27-BF5E-16FF3290A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00" y="3367230"/>
            <a:ext cx="4299230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Atividade Física: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* No grupo "Obesity Type III", a maioria (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187 pessoas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não realiza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nenhuma atividade física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Curiosamente, o grupo "Insufficient Weight" é o que apresenta o maior número de pessoas praticando exercícios de 2 a 3 vezes por semana.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D4C34-0A85-DA13-6604-C9044D306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pieChart ,USO DE ELETRONICOS ,textbox ,ATIVIDADE FISICA ,textbox. Please refer to the notes on this slide for details">
            <a:hlinkClick r:id="rId3"/>
            <a:extLst>
              <a:ext uri="{FF2B5EF4-FFF2-40B4-BE49-F238E27FC236}">
                <a16:creationId xmlns:a16="http://schemas.microsoft.com/office/drawing/2014/main" id="{DE483715-563F-0D86-4F43-07D4BF0C7E2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3867" b="61296"/>
          <a:stretch>
            <a:fillRect/>
          </a:stretch>
        </p:blipFill>
        <p:spPr>
          <a:xfrm>
            <a:off x="5025735" y="1193800"/>
            <a:ext cx="6380019" cy="3898900"/>
          </a:xfrm>
          <a:prstGeom prst="rect">
            <a:avLst/>
          </a:prstGeom>
          <a:noFill/>
        </p:spPr>
      </p:pic>
      <p:sp>
        <p:nvSpPr>
          <p:cNvPr id="4" name="Title" hidden="1">
            <a:extLst>
              <a:ext uri="{FF2B5EF4-FFF2-40B4-BE49-F238E27FC236}">
                <a16:creationId xmlns:a16="http://schemas.microsoft.com/office/drawing/2014/main" id="{B01C59F1-E055-867D-7311-5BD2D2C11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HABITOS DE VIDA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F8BEA4-C29A-89E7-AD82-4DA831378F60}"/>
              </a:ext>
            </a:extLst>
          </p:cNvPr>
          <p:cNvSpPr txBox="1"/>
          <p:nvPr/>
        </p:nvSpPr>
        <p:spPr>
          <a:xfrm>
            <a:off x="675713" y="1622808"/>
            <a:ext cx="423948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O uso excessivo de eletrônicos está fortemente ligado à obesidade, principalmente em crianças e adolescentes, devido ao sedentarismo, à alteração dos hábitos alimentares (preferência por ultraprocessados), ao impacto negativo no sono e à exposição a marketing de alimentos não saudáveis, aumentando o risco de ganho de peso e problemas de saúde futuros.</a:t>
            </a:r>
          </a:p>
        </p:txBody>
      </p:sp>
    </p:spTree>
    <p:extLst>
      <p:ext uri="{BB962C8B-B14F-4D97-AF65-F5344CB8AC3E}">
        <p14:creationId xmlns:p14="http://schemas.microsoft.com/office/powerpoint/2010/main" val="19745869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B35CFA-75B1-5057-34C7-EE0CAE476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79EECFE-814E-4B68-96A7-86A795BD22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AF180F00-B4B2-4196-BB1C-ECD21B03F0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DF16AC-5A4C-72ED-8C39-CCE7F85D87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0" y="1383527"/>
            <a:ext cx="6117158" cy="4175166"/>
          </a:xfrm>
        </p:spPr>
        <p:txBody>
          <a:bodyPr anchor="ctr">
            <a:normAutofit/>
          </a:bodyPr>
          <a:lstStyle/>
          <a:p>
            <a:pPr algn="r"/>
            <a:r>
              <a:rPr lang="pt-BR" sz="7400" dirty="0"/>
              <a:t>CONCLUSÕES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0D3DE-EC74-4C9F-AFA1-DC5CE5236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7942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36AD8525-5D17-B719-70A9-7B1DE69578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5544" y="1135353"/>
            <a:ext cx="10880912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Predisposição Genética: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Fator determinante, presente em 1.726 dos 2.111 indivíduos da amostra.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Impacto Familiar: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100% dos casos de Obesidade Tipo III possuem histórico familiar positivo.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Perfil por Gênero: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pt-BR" altLang="pt-BR" sz="1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Obesidade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Tipo III é predominantemente feminina (323 casos), enquanto o Tipo II é majoritariamente masculino (295 casos).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Ambiente Obesogênico: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88,39% da amostra mantém o hábito de consumir alimentos de alta caloria regularmente.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Paradoxo Alimentar: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Indivíduos com Obesidade Tipo III apresentam maior média de consumo de água e de refeições principais, sugerindo que a densidade calórica é o fator crítico.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Mobilidade Passiva: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75% da população depende de transporte público, com menos de 4% utilizando meios ativos como caminhada ou bicicleta.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Sedentarismo Digital: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 uso elevado de eletrônicos está diretamente associado à inatividade física e ao consumo de ultraprocessados.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Faixa Etária: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Mesmo em uma amostra jovem (média de 24 anos), os níveis de obesidade severa já se mostram consolidados.</a:t>
            </a:r>
          </a:p>
        </p:txBody>
      </p:sp>
    </p:spTree>
    <p:extLst>
      <p:ext uri="{BB962C8B-B14F-4D97-AF65-F5344CB8AC3E}">
        <p14:creationId xmlns:p14="http://schemas.microsoft.com/office/powerpoint/2010/main" val="93491160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</TotalTime>
  <Words>802</Words>
  <Application>Microsoft Office PowerPoint</Application>
  <PresentationFormat>Widescreen</PresentationFormat>
  <Paragraphs>52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Calibri Light</vt:lpstr>
      <vt:lpstr>Custom Design</vt:lpstr>
      <vt:lpstr>Office Theme</vt:lpstr>
      <vt:lpstr>TC4</vt:lpstr>
      <vt:lpstr>OBESIDADE</vt:lpstr>
      <vt:lpstr>OBESIDADE</vt:lpstr>
      <vt:lpstr>HABITOS DEMOGRAFICOS</vt:lpstr>
      <vt:lpstr>DADOS DEMOGRAFICOS</vt:lpstr>
      <vt:lpstr>DADOS DEMOGRAFICOS</vt:lpstr>
      <vt:lpstr>HABITOS ALIMENTARES</vt:lpstr>
      <vt:lpstr>HABITOS ALIMENTARES</vt:lpstr>
      <vt:lpstr>HABITOS ALIMENTARES</vt:lpstr>
      <vt:lpstr>HABITOS ALIMENTARES</vt:lpstr>
      <vt:lpstr>HABITOS DE VIDA</vt:lpstr>
      <vt:lpstr>HABITOS DE VIDA</vt:lpstr>
      <vt:lpstr>HABITOS DE VIDA</vt:lpstr>
      <vt:lpstr>CONCLUSÕES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Yascara Martini</cp:lastModifiedBy>
  <cp:revision>9</cp:revision>
  <dcterms:created xsi:type="dcterms:W3CDTF">2016-09-04T11:54:55Z</dcterms:created>
  <dcterms:modified xsi:type="dcterms:W3CDTF">2026-01-07T21:17:28Z</dcterms:modified>
</cp:coreProperties>
</file>